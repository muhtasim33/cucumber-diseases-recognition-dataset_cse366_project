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8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FB67A-5517-4490-8B17-B262598B8C8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8A736-B846-4E9B-9494-734901F68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7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8A736-B846-4E9B-9494-734901F68B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3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Sunday, December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16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8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7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4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523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8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4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6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1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Sunday, December 14,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6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Sunday, December 14,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156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64" r:id="rId6"/>
    <p:sldLayoutId id="2147483960" r:id="rId7"/>
    <p:sldLayoutId id="2147483961" r:id="rId8"/>
    <p:sldLayoutId id="2147483962" r:id="rId9"/>
    <p:sldLayoutId id="2147483963" r:id="rId10"/>
    <p:sldLayoutId id="214748396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0BD6A-54B3-ED9E-F106-5D164243F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007165"/>
            <a:ext cx="3565524" cy="2429284"/>
          </a:xfrm>
        </p:spPr>
        <p:txBody>
          <a:bodyPr anchor="b">
            <a:normAutofit/>
          </a:bodyPr>
          <a:lstStyle/>
          <a:p>
            <a:r>
              <a:rPr lang="en-US" sz="4800"/>
              <a:t>Cucumber Diseases Recognition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AEC842D-C905-4DEA-B1C3-CA51995C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863" y="549274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845873E-9C86-4496-87B7-3A6141D7D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69384" y="4508500"/>
            <a:ext cx="1468514" cy="1521012"/>
            <a:chOff x="5236793" y="2432482"/>
            <a:chExt cx="1468514" cy="1521012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67B3FE92-6018-4D9B-9B3E-264810BCB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6ADEA1A7-349B-4EC9-9458-EBB1E9BFD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83BB3CBA-4085-4566-9B1D-656DA46E3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Green patterned leaves">
            <a:extLst>
              <a:ext uri="{FF2B5EF4-FFF2-40B4-BE49-F238E27FC236}">
                <a16:creationId xmlns:a16="http://schemas.microsoft.com/office/drawing/2014/main" id="{E1095DC6-E076-BCB9-D958-4A4AFBBF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29" r="10029"/>
          <a:stretch>
            <a:fillRect/>
          </a:stretch>
        </p:blipFill>
        <p:spPr>
          <a:xfrm>
            <a:off x="4743451" y="549275"/>
            <a:ext cx="6897687" cy="5759451"/>
          </a:xfrm>
          <a:custGeom>
            <a:avLst/>
            <a:gdLst/>
            <a:ahLst/>
            <a:cxnLst/>
            <a:rect l="l" t="t" r="r" b="b"/>
            <a:pathLst>
              <a:path w="6897687" h="5759451">
                <a:moveTo>
                  <a:pt x="0" y="0"/>
                </a:moveTo>
                <a:lnTo>
                  <a:pt x="6897687" y="0"/>
                </a:lnTo>
                <a:lnTo>
                  <a:pt x="6897687" y="5759451"/>
                </a:lnTo>
                <a:lnTo>
                  <a:pt x="0" y="57594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5694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AB481-2DA4-E377-ECD0-1C490642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4608B213-1751-0F11-A3D3-34C004A29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790F4F6-A981-0040-5291-20E5B86DB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863" y="549274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21137C2-A877-6B25-E1B9-40422069F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3DB85FD-9442-57A9-7C6F-9AB2D51EE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69384" y="4508500"/>
            <a:ext cx="1468514" cy="1521012"/>
            <a:chOff x="5236793" y="2432482"/>
            <a:chExt cx="1468514" cy="1521012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1B8D2C04-3D33-8EF1-1AAA-767831120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E3E92782-11FF-7820-BB85-57BC69A41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7D3C72B8-ECF0-0F56-AF2C-B094990EA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463C4-4CFD-69C0-E909-1E1B33318391}"/>
              </a:ext>
            </a:extLst>
          </p:cNvPr>
          <p:cNvSpPr txBox="1"/>
          <p:nvPr/>
        </p:nvSpPr>
        <p:spPr>
          <a:xfrm>
            <a:off x="2743200" y="281384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Presented By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359CDC-355B-554B-CDA2-094521BA9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14640"/>
              </p:ext>
            </p:extLst>
          </p:nvPr>
        </p:nvGraphicFramePr>
        <p:xfrm>
          <a:off x="2166223" y="1579880"/>
          <a:ext cx="8128000" cy="3045321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4402357">
                  <a:extLst>
                    <a:ext uri="{9D8B030D-6E8A-4147-A177-3AD203B41FA5}">
                      <a16:colId xmlns:a16="http://schemas.microsoft.com/office/drawing/2014/main" val="799810562"/>
                    </a:ext>
                  </a:extLst>
                </a:gridCol>
                <a:gridCol w="3725643">
                  <a:extLst>
                    <a:ext uri="{9D8B030D-6E8A-4147-A177-3AD203B41FA5}">
                      <a16:colId xmlns:a16="http://schemas.microsoft.com/office/drawing/2014/main" val="2098152776"/>
                    </a:ext>
                  </a:extLst>
                </a:gridCol>
              </a:tblGrid>
              <a:tr h="55866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903695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Mubashir Jawad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2022-2-60-039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7948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K. M. Sakif Muhtasim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2022-2-60-025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946408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Sonia Bente Siraj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2022-2-60-087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804450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Sumaiya Binte Naser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2022-2-60-155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5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004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DF88-EE7D-7242-3197-5EEDBB88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598123-FF66-ABF7-D13A-192588F3E328}"/>
              </a:ext>
            </a:extLst>
          </p:cNvPr>
          <p:cNvSpPr txBox="1"/>
          <p:nvPr/>
        </p:nvSpPr>
        <p:spPr>
          <a:xfrm>
            <a:off x="3779520" y="162560"/>
            <a:ext cx="366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D5A9231-39F0-576D-ABAB-DC20A2EE3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320" y="1910139"/>
            <a:ext cx="94284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comprehensive cucumber disease dataset with multiple disease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the development of machine vision–based disease recognition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automatic and accurate identification of cucumber diseases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agricultural efficiency and crop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Contribute to food security through early disease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20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F8CE-6A10-CC40-854F-36AB7718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944D3-FB28-6BD9-F448-BB2F119C8CA7}"/>
              </a:ext>
            </a:extLst>
          </p:cNvPr>
          <p:cNvSpPr txBox="1"/>
          <p:nvPr/>
        </p:nvSpPr>
        <p:spPr>
          <a:xfrm>
            <a:off x="4445000" y="193039"/>
            <a:ext cx="330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F2728-30E0-4165-8A85-5E1C729EB9A9}"/>
              </a:ext>
            </a:extLst>
          </p:cNvPr>
          <p:cNvSpPr txBox="1"/>
          <p:nvPr/>
        </p:nvSpPr>
        <p:spPr>
          <a:xfrm>
            <a:off x="2763520" y="1148080"/>
            <a:ext cx="74472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Trained Model:</a:t>
            </a:r>
          </a:p>
          <a:p>
            <a:endParaRPr lang="en-US" dirty="0"/>
          </a:p>
          <a:p>
            <a:r>
              <a:rPr lang="en-US" dirty="0"/>
              <a:t>EDA</a:t>
            </a:r>
          </a:p>
          <a:p>
            <a:endParaRPr lang="en-US" dirty="0"/>
          </a:p>
          <a:p>
            <a:r>
              <a:rPr lang="en-US" dirty="0"/>
              <a:t>Supervised Pretrained Model</a:t>
            </a:r>
          </a:p>
          <a:p>
            <a:r>
              <a:rPr lang="en-US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EfficientBO</a:t>
            </a:r>
            <a:endParaRPr lang="en-US" dirty="0"/>
          </a:p>
          <a:p>
            <a:r>
              <a:rPr lang="en-US" dirty="0"/>
              <a:t>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ResNet_50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Vgg_16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Custom CNN</a:t>
            </a:r>
          </a:p>
          <a:p>
            <a:endParaRPr lang="en-US" dirty="0"/>
          </a:p>
          <a:p>
            <a:r>
              <a:rPr lang="en-US" dirty="0"/>
              <a:t>Attention Enhanced CNN Model</a:t>
            </a:r>
          </a:p>
          <a:p>
            <a:endParaRPr lang="en-US" dirty="0"/>
          </a:p>
          <a:p>
            <a:r>
              <a:rPr lang="en-US" dirty="0"/>
              <a:t>Explainability and Generalizability Testing</a:t>
            </a:r>
          </a:p>
        </p:txBody>
      </p:sp>
    </p:spTree>
    <p:extLst>
      <p:ext uri="{BB962C8B-B14F-4D97-AF65-F5344CB8AC3E}">
        <p14:creationId xmlns:p14="http://schemas.microsoft.com/office/powerpoint/2010/main" val="387396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01C52-2002-B2CE-E1E2-1DD51FDCC349}"/>
              </a:ext>
            </a:extLst>
          </p:cNvPr>
          <p:cNvSpPr txBox="1"/>
          <p:nvPr/>
        </p:nvSpPr>
        <p:spPr>
          <a:xfrm>
            <a:off x="3793222" y="188617"/>
            <a:ext cx="460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Task 1:Exploratory Data Analysis </a:t>
            </a:r>
          </a:p>
        </p:txBody>
      </p:sp>
      <p:pic>
        <p:nvPicPr>
          <p:cNvPr id="5" name="Picture 4" descr="A diagram of a cucumber disease recognition&#10;&#10;AI-generated content may be incorrect.">
            <a:extLst>
              <a:ext uri="{FF2B5EF4-FFF2-40B4-BE49-F238E27FC236}">
                <a16:creationId xmlns:a16="http://schemas.microsoft.com/office/drawing/2014/main" id="{366813B8-6AE0-C6FB-B28A-DA965B8A6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803" y="1100354"/>
            <a:ext cx="4882393" cy="547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26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95CB-E24D-F03E-F038-74C76FC3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CBE31-F65E-BB7A-10CF-8C8A3B96BB9A}"/>
              </a:ext>
            </a:extLst>
          </p:cNvPr>
          <p:cNvSpPr txBox="1"/>
          <p:nvPr/>
        </p:nvSpPr>
        <p:spPr>
          <a:xfrm>
            <a:off x="3154262" y="159391"/>
            <a:ext cx="675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Task 2: Supervised Pre-trained Model(EfficientB0)</a:t>
            </a:r>
          </a:p>
        </p:txBody>
      </p:sp>
      <p:pic>
        <p:nvPicPr>
          <p:cNvPr id="4" name="Picture 3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4E642971-B2B6-C43B-EE6D-049B22062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7" y="1490345"/>
            <a:ext cx="113252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2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E438F-0845-9699-1BFD-C99E469D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D2FC40-653A-1664-BB44-3DB82BE95C79}"/>
              </a:ext>
            </a:extLst>
          </p:cNvPr>
          <p:cNvSpPr txBox="1"/>
          <p:nvPr/>
        </p:nvSpPr>
        <p:spPr>
          <a:xfrm>
            <a:off x="2695312" y="150894"/>
            <a:ext cx="6801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Task 2: Supervised Pre-trained Model(ResNet_50</a:t>
            </a:r>
            <a:r>
              <a:rPr lang="en-US" sz="1800" u="sng" dirty="0"/>
              <a:t>)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6D4DDDB-D23F-54A4-E3A5-320E4EAA9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7" y="1095375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C024-E510-C1BB-8FB8-51A21CC9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74AFAC-D763-17A3-5F14-897E894CA365}"/>
              </a:ext>
            </a:extLst>
          </p:cNvPr>
          <p:cNvSpPr txBox="1"/>
          <p:nvPr/>
        </p:nvSpPr>
        <p:spPr>
          <a:xfrm>
            <a:off x="3048699" y="142505"/>
            <a:ext cx="60946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/>
              <a:t>Task 2: Supervised Pre-trained Model(Vgg_16)</a:t>
            </a:r>
          </a:p>
        </p:txBody>
      </p:sp>
      <p:pic>
        <p:nvPicPr>
          <p:cNvPr id="5" name="Picture 4" descr="A graph of two people&#10;&#10;AI-generated content may be incorrect.">
            <a:extLst>
              <a:ext uri="{FF2B5EF4-FFF2-40B4-BE49-F238E27FC236}">
                <a16:creationId xmlns:a16="http://schemas.microsoft.com/office/drawing/2014/main" id="{61FAB465-7948-53A7-0DDA-30BE61151D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7" y="1095375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9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5BB61-DBE5-FAD8-C5A7-4E4986EA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750348-5249-48BE-B8D8-43608AD7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C3C586-41D9-4369-AF7F-3A2DB21DB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EDE2AC-36FF-911A-A5DC-8733E467E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885750"/>
              </p:ext>
            </p:extLst>
          </p:nvPr>
        </p:nvGraphicFramePr>
        <p:xfrm>
          <a:off x="213359" y="2652855"/>
          <a:ext cx="11765281" cy="259904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{8799B23B-EC83-4686-B30A-512413B5E67A}</a:tableStyleId>
              </a:tblPr>
              <a:tblGrid>
                <a:gridCol w="2538389">
                  <a:extLst>
                    <a:ext uri="{9D8B030D-6E8A-4147-A177-3AD203B41FA5}">
                      <a16:colId xmlns:a16="http://schemas.microsoft.com/office/drawing/2014/main" val="763866214"/>
                    </a:ext>
                  </a:extLst>
                </a:gridCol>
                <a:gridCol w="1871813">
                  <a:extLst>
                    <a:ext uri="{9D8B030D-6E8A-4147-A177-3AD203B41FA5}">
                      <a16:colId xmlns:a16="http://schemas.microsoft.com/office/drawing/2014/main" val="525557306"/>
                    </a:ext>
                  </a:extLst>
                </a:gridCol>
                <a:gridCol w="2399105">
                  <a:extLst>
                    <a:ext uri="{9D8B030D-6E8A-4147-A177-3AD203B41FA5}">
                      <a16:colId xmlns:a16="http://schemas.microsoft.com/office/drawing/2014/main" val="1466608711"/>
                    </a:ext>
                  </a:extLst>
                </a:gridCol>
                <a:gridCol w="1751006">
                  <a:extLst>
                    <a:ext uri="{9D8B030D-6E8A-4147-A177-3AD203B41FA5}">
                      <a16:colId xmlns:a16="http://schemas.microsoft.com/office/drawing/2014/main" val="215923702"/>
                    </a:ext>
                  </a:extLst>
                </a:gridCol>
                <a:gridCol w="1413455">
                  <a:extLst>
                    <a:ext uri="{9D8B030D-6E8A-4147-A177-3AD203B41FA5}">
                      <a16:colId xmlns:a16="http://schemas.microsoft.com/office/drawing/2014/main" val="430099137"/>
                    </a:ext>
                  </a:extLst>
                </a:gridCol>
                <a:gridCol w="1791513">
                  <a:extLst>
                    <a:ext uri="{9D8B030D-6E8A-4147-A177-3AD203B41FA5}">
                      <a16:colId xmlns:a16="http://schemas.microsoft.com/office/drawing/2014/main" val="2156094952"/>
                    </a:ext>
                  </a:extLst>
                </a:gridCol>
              </a:tblGrid>
              <a:tr h="843843">
                <a:tc>
                  <a:txBody>
                    <a:bodyPr/>
                    <a:lstStyle/>
                    <a:p>
                      <a:pPr marL="59055" marR="0">
                        <a:spcBef>
                          <a:spcPts val="780"/>
                        </a:spcBef>
                        <a:buNone/>
                      </a:pPr>
                      <a:r>
                        <a:rPr lang="en-US" sz="2600">
                          <a:effectLst/>
                        </a:rPr>
                        <a:t>Model</a:t>
                      </a:r>
                      <a:r>
                        <a:rPr lang="en-US" sz="2600" spc="-25">
                          <a:effectLst/>
                        </a:rPr>
                        <a:t> </a:t>
                      </a:r>
                      <a:r>
                        <a:rPr lang="en-US" sz="2600" spc="-20">
                          <a:effectLst/>
                        </a:rPr>
                        <a:t>Name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marR="106045">
                        <a:lnSpc>
                          <a:spcPct val="106000"/>
                        </a:lnSpc>
                        <a:spcBef>
                          <a:spcPts val="780"/>
                        </a:spcBef>
                        <a:buNone/>
                      </a:pPr>
                      <a:r>
                        <a:rPr lang="en-US" sz="2600" spc="-20" dirty="0">
                          <a:effectLst/>
                        </a:rPr>
                        <a:t>Test </a:t>
                      </a:r>
                      <a:r>
                        <a:rPr lang="en-US" sz="2600" spc="-10" dirty="0">
                          <a:effectLst/>
                        </a:rPr>
                        <a:t>Accuracy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78740">
                        <a:lnSpc>
                          <a:spcPct val="106000"/>
                        </a:lnSpc>
                        <a:spcBef>
                          <a:spcPts val="780"/>
                        </a:spcBef>
                        <a:buNone/>
                      </a:pPr>
                      <a:r>
                        <a:rPr lang="en-US" sz="2600">
                          <a:effectLst/>
                        </a:rPr>
                        <a:t>Weighted</a:t>
                      </a:r>
                      <a:r>
                        <a:rPr lang="en-US" sz="2600" spc="-80">
                          <a:effectLst/>
                        </a:rPr>
                        <a:t> </a:t>
                      </a:r>
                      <a:r>
                        <a:rPr lang="en-US" sz="2600">
                          <a:effectLst/>
                        </a:rPr>
                        <a:t>F1- </a:t>
                      </a:r>
                      <a:r>
                        <a:rPr lang="en-US" sz="2600" spc="-10">
                          <a:effectLst/>
                        </a:rPr>
                        <a:t>Score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80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Time(min)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 marR="0">
                        <a:spcBef>
                          <a:spcPts val="780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Fine-Tuned?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marR="0">
                        <a:spcBef>
                          <a:spcPts val="780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ROC/AUC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0200817"/>
                  </a:ext>
                </a:extLst>
              </a:tr>
              <a:tr h="454268">
                <a:tc>
                  <a:txBody>
                    <a:bodyPr/>
                    <a:lstStyle/>
                    <a:p>
                      <a:pPr marL="59055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ResNet50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 dirty="0">
                          <a:effectLst/>
                        </a:rPr>
                        <a:t>0.933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20" dirty="0">
                          <a:effectLst/>
                        </a:rPr>
                        <a:t>0.93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96.27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 marR="0">
                        <a:spcBef>
                          <a:spcPts val="1255"/>
                        </a:spcBef>
                        <a:buNone/>
                      </a:pPr>
                      <a:r>
                        <a:rPr lang="en-US" sz="2600" spc="-25">
                          <a:effectLst/>
                        </a:rPr>
                        <a:t>Yes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marR="0">
                        <a:spcBef>
                          <a:spcPts val="1255"/>
                        </a:spcBef>
                        <a:buNone/>
                      </a:pPr>
                      <a:r>
                        <a:rPr lang="en-US" sz="2600" spc="-25">
                          <a:effectLst/>
                        </a:rPr>
                        <a:t>Yes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7177749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pPr marL="0" marR="0">
                        <a:spcBef>
                          <a:spcPts val="85"/>
                        </a:spcBef>
                        <a:buNone/>
                      </a:pPr>
                      <a:r>
                        <a:rPr lang="en-US" sz="2600">
                          <a:effectLst/>
                        </a:rPr>
                        <a:t> </a:t>
                      </a:r>
                    </a:p>
                    <a:p>
                      <a:pPr marL="59055" marR="68580">
                        <a:lnSpc>
                          <a:spcPct val="115000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EfficientNetB </a:t>
                      </a:r>
                      <a:r>
                        <a:rPr lang="en-US" sz="2600" spc="-50">
                          <a:effectLst/>
                        </a:rPr>
                        <a:t>0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0.8299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0.8235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84.31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85"/>
                        </a:spcBef>
                        <a:buNone/>
                      </a:pPr>
                      <a:r>
                        <a:rPr lang="en-US" sz="2600">
                          <a:effectLst/>
                        </a:rPr>
                        <a:t> </a:t>
                      </a:r>
                    </a:p>
                    <a:p>
                      <a:pPr marL="57785" marR="0">
                        <a:spcBef>
                          <a:spcPts val="5"/>
                        </a:spcBef>
                        <a:buNone/>
                      </a:pPr>
                      <a:r>
                        <a:rPr lang="en-US" sz="2600" spc="-25">
                          <a:effectLst/>
                        </a:rPr>
                        <a:t>Yes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marR="0">
                        <a:spcBef>
                          <a:spcPts val="765"/>
                        </a:spcBef>
                        <a:buNone/>
                      </a:pPr>
                      <a:r>
                        <a:rPr lang="en-US" sz="2600" spc="-25">
                          <a:effectLst/>
                        </a:rPr>
                        <a:t>Yes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00647316"/>
                  </a:ext>
                </a:extLst>
              </a:tr>
              <a:tr h="454268">
                <a:tc>
                  <a:txBody>
                    <a:bodyPr/>
                    <a:lstStyle/>
                    <a:p>
                      <a:pPr marL="59055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VGG16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0.897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20">
                          <a:effectLst/>
                        </a:rPr>
                        <a:t>0.89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10">
                          <a:effectLst/>
                        </a:rPr>
                        <a:t>203.51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785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25">
                          <a:effectLst/>
                        </a:rPr>
                        <a:t>Yes</a:t>
                      </a:r>
                      <a:endParaRPr lang="en-US" sz="2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515" marR="0">
                        <a:spcBef>
                          <a:spcPts val="775"/>
                        </a:spcBef>
                        <a:buNone/>
                      </a:pPr>
                      <a:r>
                        <a:rPr lang="en-US" sz="2600" spc="-25" dirty="0">
                          <a:effectLst/>
                        </a:rPr>
                        <a:t>Yes</a:t>
                      </a:r>
                      <a:endParaRPr lang="en-US" sz="2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704317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F80B95C-4227-FD96-046E-C60CA06F1359}"/>
              </a:ext>
            </a:extLst>
          </p:cNvPr>
          <p:cNvSpPr txBox="1"/>
          <p:nvPr/>
        </p:nvSpPr>
        <p:spPr>
          <a:xfrm>
            <a:off x="2747102" y="203200"/>
            <a:ext cx="5431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4158986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76A4F-00AA-4A9D-5B19-3A56A3D2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F92CA-0086-AAEC-B450-78509932D79E}"/>
              </a:ext>
            </a:extLst>
          </p:cNvPr>
          <p:cNvSpPr txBox="1"/>
          <p:nvPr/>
        </p:nvSpPr>
        <p:spPr>
          <a:xfrm>
            <a:off x="550863" y="549275"/>
            <a:ext cx="6371409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latin typeface="+mj-lt"/>
                <a:ea typeface="+mj-ea"/>
                <a:cs typeface="+mj-cs"/>
              </a:rPr>
              <a:t>Custom CNN 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3D8E9-B1AB-4D81-9F4E-04AA5C5AC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5"/>
          </a:xfrm>
          <a:prstGeom prst="rect">
            <a:avLst/>
          </a:prstGeom>
          <a:solidFill>
            <a:schemeClr val="bg2">
              <a:lumMod val="25000"/>
              <a:lumOff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CC0BED-F03F-40D6-96CE-80CAE6666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28F4766-8F25-0B37-EA3E-54BCDA2A2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66" y="3377875"/>
            <a:ext cx="6371409" cy="2930848"/>
          </a:xfrm>
          <a:custGeom>
            <a:avLst/>
            <a:gdLst/>
            <a:ahLst/>
            <a:cxnLst/>
            <a:rect l="l" t="t" r="r" b="b"/>
            <a:pathLst>
              <a:path w="6922273" h="4225290">
                <a:moveTo>
                  <a:pt x="0" y="0"/>
                </a:moveTo>
                <a:lnTo>
                  <a:pt x="6922273" y="0"/>
                </a:lnTo>
                <a:lnTo>
                  <a:pt x="6922273" y="4225290"/>
                </a:lnTo>
                <a:lnTo>
                  <a:pt x="0" y="4225290"/>
                </a:lnTo>
                <a:close/>
              </a:path>
            </a:pathLst>
          </a:custGeom>
        </p:spPr>
      </p:pic>
      <p:pic>
        <p:nvPicPr>
          <p:cNvPr id="4" name="Picture 3" descr="A diagram of a cucumber disease&#10;&#10;AI-generated content may be incorrect.">
            <a:extLst>
              <a:ext uri="{FF2B5EF4-FFF2-40B4-BE49-F238E27FC236}">
                <a16:creationId xmlns:a16="http://schemas.microsoft.com/office/drawing/2014/main" id="{288E8B0F-BBC9-3F21-ED25-0BCAA630E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97" y="2632709"/>
            <a:ext cx="4442314" cy="3676015"/>
          </a:xfrm>
          <a:custGeom>
            <a:avLst/>
            <a:gdLst/>
            <a:ahLst/>
            <a:cxnLst/>
            <a:rect l="l" t="t" r="r" b="b"/>
            <a:pathLst>
              <a:path w="6922273" h="4225290">
                <a:moveTo>
                  <a:pt x="0" y="0"/>
                </a:moveTo>
                <a:lnTo>
                  <a:pt x="6922273" y="0"/>
                </a:lnTo>
                <a:lnTo>
                  <a:pt x="6922273" y="4225290"/>
                </a:lnTo>
                <a:lnTo>
                  <a:pt x="0" y="4225290"/>
                </a:lnTo>
                <a:close/>
              </a:path>
            </a:pathLst>
          </a:cu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337EA23-6703-4C96-9EEB-A408CBDD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99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737F6-7641-E06C-CD58-5EF0AEB2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5E077-70E0-BE6C-6853-D5783AE5346A}"/>
              </a:ext>
            </a:extLst>
          </p:cNvPr>
          <p:cNvSpPr txBox="1"/>
          <p:nvPr/>
        </p:nvSpPr>
        <p:spPr>
          <a:xfrm>
            <a:off x="1544320" y="152400"/>
            <a:ext cx="8422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Attention Enhanced CNN Model</a:t>
            </a:r>
          </a:p>
        </p:txBody>
      </p:sp>
      <p:pic>
        <p:nvPicPr>
          <p:cNvPr id="4" name="Picture 3" descr="A graph of two people&#10;&#10;AI-generated content may be incorrect.">
            <a:extLst>
              <a:ext uri="{FF2B5EF4-FFF2-40B4-BE49-F238E27FC236}">
                <a16:creationId xmlns:a16="http://schemas.microsoft.com/office/drawing/2014/main" id="{BDE87E22-8BCC-B3AD-1481-4DDFE704E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33" y="776625"/>
            <a:ext cx="11634733" cy="4012671"/>
          </a:xfrm>
          <a:prstGeom prst="rect">
            <a:avLst/>
          </a:prstGeom>
        </p:spPr>
      </p:pic>
      <p:pic>
        <p:nvPicPr>
          <p:cNvPr id="6" name="Picture 5" descr="A white squares with black text&#10;&#10;AI-generated content may be incorrect.">
            <a:extLst>
              <a:ext uri="{FF2B5EF4-FFF2-40B4-BE49-F238E27FC236}">
                <a16:creationId xmlns:a16="http://schemas.microsoft.com/office/drawing/2014/main" id="{510C1150-13FF-EBEF-7906-4F270C06F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479" y="4951856"/>
            <a:ext cx="933704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49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E5911-92AF-977A-F559-2928CE56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87456-E17A-272E-8EEE-15354E071886}"/>
              </a:ext>
            </a:extLst>
          </p:cNvPr>
          <p:cNvSpPr txBox="1"/>
          <p:nvPr/>
        </p:nvSpPr>
        <p:spPr>
          <a:xfrm>
            <a:off x="550863" y="549275"/>
            <a:ext cx="5437187" cy="298623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Explainability and Generalizability Testing</a:t>
            </a: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ABAEFE2-02F7-01EF-92DE-D9844A1E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47" y="1306018"/>
            <a:ext cx="5083992" cy="1258288"/>
          </a:xfrm>
          <a:custGeom>
            <a:avLst/>
            <a:gdLst/>
            <a:ahLst/>
            <a:cxnLst/>
            <a:rect l="l" t="t" r="r" b="b"/>
            <a:pathLst>
              <a:path w="5083992" h="2880518">
                <a:moveTo>
                  <a:pt x="0" y="0"/>
                </a:moveTo>
                <a:lnTo>
                  <a:pt x="5083992" y="0"/>
                </a:lnTo>
                <a:lnTo>
                  <a:pt x="5083992" y="2880518"/>
                </a:lnTo>
                <a:lnTo>
                  <a:pt x="0" y="2880518"/>
                </a:lnTo>
                <a:close/>
              </a:path>
            </a:pathLst>
          </a:cu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41F54C07-61D4-4BB1-A209-297754AD9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778C56C-3077-4234-BF38-388080D1A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E6009CB-E4A9-4334-904A-8BD104D59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8C6B70D-B88E-4EBD-BEA4-6FD2E5FE5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9B02BFF-E00A-48CF-A4A8-6A5C08308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012826"/>
            <a:ext cx="855255" cy="1080000"/>
          </a:xfrm>
          <a:custGeom>
            <a:avLst/>
            <a:gdLst>
              <a:gd name="connsiteX0" fmla="*/ 315255 w 855255"/>
              <a:gd name="connsiteY0" fmla="*/ 0 h 1080000"/>
              <a:gd name="connsiteX1" fmla="*/ 855255 w 855255"/>
              <a:gd name="connsiteY1" fmla="*/ 540000 h 1080000"/>
              <a:gd name="connsiteX2" fmla="*/ 315255 w 855255"/>
              <a:gd name="connsiteY2" fmla="*/ 1080000 h 1080000"/>
              <a:gd name="connsiteX3" fmla="*/ 13336 w 855255"/>
              <a:gd name="connsiteY3" fmla="*/ 987777 h 1080000"/>
              <a:gd name="connsiteX4" fmla="*/ 0 w 855255"/>
              <a:gd name="connsiteY4" fmla="*/ 976774 h 1080000"/>
              <a:gd name="connsiteX5" fmla="*/ 0 w 855255"/>
              <a:gd name="connsiteY5" fmla="*/ 103227 h 1080000"/>
              <a:gd name="connsiteX6" fmla="*/ 13336 w 855255"/>
              <a:gd name="connsiteY6" fmla="*/ 92224 h 1080000"/>
              <a:gd name="connsiteX7" fmla="*/ 315255 w 855255"/>
              <a:gd name="connsiteY7" fmla="*/ 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5255" h="1080000">
                <a:moveTo>
                  <a:pt x="315255" y="0"/>
                </a:moveTo>
                <a:cubicBezTo>
                  <a:pt x="613489" y="0"/>
                  <a:pt x="855255" y="241766"/>
                  <a:pt x="855255" y="540000"/>
                </a:cubicBezTo>
                <a:cubicBezTo>
                  <a:pt x="855255" y="838234"/>
                  <a:pt x="613489" y="1080000"/>
                  <a:pt x="315255" y="1080000"/>
                </a:cubicBezTo>
                <a:cubicBezTo>
                  <a:pt x="203417" y="1080000"/>
                  <a:pt x="99520" y="1046002"/>
                  <a:pt x="13336" y="987777"/>
                </a:cubicBezTo>
                <a:lnTo>
                  <a:pt x="0" y="976774"/>
                </a:lnTo>
                <a:lnTo>
                  <a:pt x="0" y="103227"/>
                </a:lnTo>
                <a:lnTo>
                  <a:pt x="13336" y="92224"/>
                </a:lnTo>
                <a:cubicBezTo>
                  <a:pt x="99520" y="33999"/>
                  <a:pt x="203417" y="0"/>
                  <a:pt x="315255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8D1F612-A815-43E8-FF43-1AE855555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147" y="3875058"/>
            <a:ext cx="5083992" cy="2097146"/>
          </a:xfrm>
          <a:custGeom>
            <a:avLst/>
            <a:gdLst/>
            <a:ahLst/>
            <a:cxnLst/>
            <a:rect l="l" t="t" r="r" b="b"/>
            <a:pathLst>
              <a:path w="5083992" h="2880518">
                <a:moveTo>
                  <a:pt x="0" y="0"/>
                </a:moveTo>
                <a:lnTo>
                  <a:pt x="5083992" y="0"/>
                </a:lnTo>
                <a:lnTo>
                  <a:pt x="5083992" y="2880518"/>
                </a:lnTo>
                <a:lnTo>
                  <a:pt x="0" y="288051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30354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2F4C-FC22-B1B4-5820-58E18753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E03FF-118A-E860-0B7B-29A5B17BA854}"/>
              </a:ext>
            </a:extLst>
          </p:cNvPr>
          <p:cNvSpPr txBox="1"/>
          <p:nvPr/>
        </p:nvSpPr>
        <p:spPr>
          <a:xfrm>
            <a:off x="4165600" y="448826"/>
            <a:ext cx="386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Grad-CAM</a:t>
            </a:r>
          </a:p>
        </p:txBody>
      </p:sp>
      <p:pic>
        <p:nvPicPr>
          <p:cNvPr id="4" name="Picture 3" descr="A collage of different images of plants&#10;&#10;AI-generated content may be incorrect.">
            <a:extLst>
              <a:ext uri="{FF2B5EF4-FFF2-40B4-BE49-F238E27FC236}">
                <a16:creationId xmlns:a16="http://schemas.microsoft.com/office/drawing/2014/main" id="{CDF0EAC1-3759-94F6-4B6F-829623A9E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36366" y="-1487805"/>
            <a:ext cx="4319268" cy="107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37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2B91-E218-A33B-F110-97FD4C50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63FE87-1CA6-0AB5-EC3B-EC86C136E6A3}"/>
              </a:ext>
            </a:extLst>
          </p:cNvPr>
          <p:cNvSpPr txBox="1"/>
          <p:nvPr/>
        </p:nvSpPr>
        <p:spPr>
          <a:xfrm>
            <a:off x="3098800" y="101600"/>
            <a:ext cx="599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43F1C5-D910-1465-F226-F5FDF56DD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1514377"/>
            <a:ext cx="11358880" cy="428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presents a comprehensive cucumber disease dataset covering eight classes, providing a strong foundation for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developing accurate machine vision–based disease recognition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addresses real agricultural challenges by enabling early detection of diseases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are difficult to identify with the naked eye.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deep learning techniques demonstrates the effectiveness of the dataset in training reliable and high-performance recognition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data preprocessing, training, validation, and testing ensure the model’s ability to generalize to unseen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proposed dataset and methodology contribute to improved agricultural efficiency, increased cucumber production, and enhanced food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63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71AC1-135A-66C5-C552-9ECFD7A2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0602C-1BFD-D5EE-757C-09E829CC28BA}"/>
              </a:ext>
            </a:extLst>
          </p:cNvPr>
          <p:cNvSpPr txBox="1"/>
          <p:nvPr/>
        </p:nvSpPr>
        <p:spPr>
          <a:xfrm>
            <a:off x="6203950" y="549275"/>
            <a:ext cx="5437187" cy="298623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400"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47103B65-115E-338A-228C-4B40ABE7F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63" y="878681"/>
            <a:ext cx="5102225" cy="5102225"/>
          </a:xfrm>
          <a:custGeom>
            <a:avLst/>
            <a:gdLst/>
            <a:ahLst/>
            <a:cxnLst/>
            <a:rect l="l" t="t" r="r" b="b"/>
            <a:pathLst>
              <a:path w="5102225" h="5761037">
                <a:moveTo>
                  <a:pt x="0" y="0"/>
                </a:moveTo>
                <a:lnTo>
                  <a:pt x="5102225" y="0"/>
                </a:lnTo>
                <a:lnTo>
                  <a:pt x="5102225" y="5761037"/>
                </a:lnTo>
                <a:lnTo>
                  <a:pt x="0" y="57610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959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298</Words>
  <Application>Microsoft Office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Sitka Heading</vt:lpstr>
      <vt:lpstr>Source Sans Pro</vt:lpstr>
      <vt:lpstr>3DFloatVTI</vt:lpstr>
      <vt:lpstr>Cucumber Diseases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Saleh Billah</dc:creator>
  <cp:lastModifiedBy>Saleh Billah</cp:lastModifiedBy>
  <cp:revision>1</cp:revision>
  <dcterms:created xsi:type="dcterms:W3CDTF">2025-12-14T14:34:41Z</dcterms:created>
  <dcterms:modified xsi:type="dcterms:W3CDTF">2025-12-14T18:46:21Z</dcterms:modified>
</cp:coreProperties>
</file>